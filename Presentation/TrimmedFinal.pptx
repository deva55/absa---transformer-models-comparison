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72" r:id="rId3"/>
    <p:sldId id="271" r:id="rId4"/>
    <p:sldId id="270" r:id="rId5"/>
    <p:sldId id="278" r:id="rId6"/>
    <p:sldId id="279" r:id="rId7"/>
    <p:sldId id="267" r:id="rId8"/>
    <p:sldId id="281" r:id="rId9"/>
    <p:sldId id="280" r:id="rId10"/>
    <p:sldId id="282" r:id="rId11"/>
    <p:sldId id="285" r:id="rId12"/>
    <p:sldId id="286" r:id="rId13"/>
    <p:sldId id="287" r:id="rId14"/>
    <p:sldId id="283" r:id="rId15"/>
    <p:sldId id="284" r:id="rId16"/>
    <p:sldId id="260" r:id="rId17"/>
    <p:sldId id="259" r:id="rId18"/>
    <p:sldId id="288" r:id="rId19"/>
    <p:sldId id="275" r:id="rId20"/>
    <p:sldId id="258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0C522C-A306-47EA-AFEC-69E02DAAD35F}" type="doc">
      <dgm:prSet loTypeId="urn:microsoft.com/office/officeart/2005/8/layout/list1" loCatId="list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2CC3ED-6914-417A-B121-A8142DED75B8}">
      <dgm:prSet/>
      <dgm:spPr/>
      <dgm:t>
        <a:bodyPr/>
        <a:lstStyle/>
        <a:p>
          <a:r>
            <a:rPr lang="en-US"/>
            <a:t>Sliding Window Approach:</a:t>
          </a:r>
        </a:p>
      </dgm:t>
    </dgm:pt>
    <dgm:pt modelId="{C5375BF6-0665-4178-B7C1-9C1D5FE53E29}" type="parTrans" cxnId="{EBC33BD3-A364-40C5-B663-C3A0634FE4F3}">
      <dgm:prSet/>
      <dgm:spPr/>
      <dgm:t>
        <a:bodyPr/>
        <a:lstStyle/>
        <a:p>
          <a:endParaRPr lang="en-US"/>
        </a:p>
      </dgm:t>
    </dgm:pt>
    <dgm:pt modelId="{C5489644-ABC8-41F8-9B0F-877F76329C7C}" type="sibTrans" cxnId="{EBC33BD3-A364-40C5-B663-C3A0634FE4F3}">
      <dgm:prSet/>
      <dgm:spPr/>
      <dgm:t>
        <a:bodyPr/>
        <a:lstStyle/>
        <a:p>
          <a:endParaRPr lang="en-US"/>
        </a:p>
      </dgm:t>
    </dgm:pt>
    <dgm:pt modelId="{B31D7109-5A16-46DE-B671-F5256BCA8D6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Manages model’s fixed length input limits by segmenting longer texts, ensuring comprehensive text coverage</a:t>
          </a:r>
        </a:p>
      </dgm:t>
    </dgm:pt>
    <dgm:pt modelId="{1118D118-623F-4484-84A0-58F7109DDAE6}" type="parTrans" cxnId="{A62BAB66-6122-4986-A601-E4F1BC3B0E4B}">
      <dgm:prSet/>
      <dgm:spPr/>
      <dgm:t>
        <a:bodyPr/>
        <a:lstStyle/>
        <a:p>
          <a:endParaRPr lang="en-US"/>
        </a:p>
      </dgm:t>
    </dgm:pt>
    <dgm:pt modelId="{4C62A9EF-9625-415F-B5A1-7B6CA8F87917}" type="sibTrans" cxnId="{A62BAB66-6122-4986-A601-E4F1BC3B0E4B}">
      <dgm:prSet/>
      <dgm:spPr/>
      <dgm:t>
        <a:bodyPr/>
        <a:lstStyle/>
        <a:p>
          <a:endParaRPr lang="en-US"/>
        </a:p>
      </dgm:t>
    </dgm:pt>
    <dgm:pt modelId="{AE783D70-18F2-414B-8847-08441FE601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Ensures all relevant text portions are analyzed, improving the model’s overall accuracy.</a:t>
          </a:r>
        </a:p>
      </dgm:t>
    </dgm:pt>
    <dgm:pt modelId="{679A5C93-FBE2-4FCA-868D-6B9A483E1ECF}" type="parTrans" cxnId="{5D399358-C15B-4B1D-9D14-0A8E197F1266}">
      <dgm:prSet/>
      <dgm:spPr/>
      <dgm:t>
        <a:bodyPr/>
        <a:lstStyle/>
        <a:p>
          <a:endParaRPr lang="en-US"/>
        </a:p>
      </dgm:t>
    </dgm:pt>
    <dgm:pt modelId="{C5DAF466-7482-4269-BD4D-0B3974713F5F}" type="sibTrans" cxnId="{5D399358-C15B-4B1D-9D14-0A8E197F1266}">
      <dgm:prSet/>
      <dgm:spPr/>
      <dgm:t>
        <a:bodyPr/>
        <a:lstStyle/>
        <a:p>
          <a:endParaRPr lang="en-US"/>
        </a:p>
      </dgm:t>
    </dgm:pt>
    <dgm:pt modelId="{9FDE68D7-E8B5-411E-813A-FFECB8AF3353}">
      <dgm:prSet/>
      <dgm:spPr/>
      <dgm:t>
        <a:bodyPr/>
        <a:lstStyle/>
        <a:p>
          <a:r>
            <a:rPr lang="en-US"/>
            <a:t>Contextual input construction:</a:t>
          </a:r>
        </a:p>
      </dgm:t>
    </dgm:pt>
    <dgm:pt modelId="{7AF73F30-63DA-47D3-B208-E1FC79FC0615}" type="parTrans" cxnId="{7A56810C-4FE5-4672-BAB3-3513BE17188B}">
      <dgm:prSet/>
      <dgm:spPr/>
      <dgm:t>
        <a:bodyPr/>
        <a:lstStyle/>
        <a:p>
          <a:endParaRPr lang="en-US"/>
        </a:p>
      </dgm:t>
    </dgm:pt>
    <dgm:pt modelId="{D562836E-5E6F-49C6-8A21-CD3CAE0D7239}" type="sibTrans" cxnId="{7A56810C-4FE5-4672-BAB3-3513BE17188B}">
      <dgm:prSet/>
      <dgm:spPr/>
      <dgm:t>
        <a:bodyPr/>
        <a:lstStyle/>
        <a:p>
          <a:endParaRPr lang="en-US"/>
        </a:p>
      </dgm:t>
    </dgm:pt>
    <dgm:pt modelId="{1D1B6D1F-8384-470E-81B8-FE8F46EB3A46}">
      <dgm:prSet/>
      <dgm:spPr/>
      <dgm:t>
        <a:bodyPr/>
        <a:lstStyle/>
        <a:p>
          <a:r>
            <a:rPr lang="en-US" dirty="0"/>
            <a:t>Combines key aspect terms with surrounding text to form meaningful input sequences.</a:t>
          </a:r>
        </a:p>
      </dgm:t>
    </dgm:pt>
    <dgm:pt modelId="{C6D816AE-1386-4453-B22B-49F51BF06F45}" type="parTrans" cxnId="{E559B74D-46CD-4AEB-9133-6D09A700CC7B}">
      <dgm:prSet/>
      <dgm:spPr/>
      <dgm:t>
        <a:bodyPr/>
        <a:lstStyle/>
        <a:p>
          <a:endParaRPr lang="en-US"/>
        </a:p>
      </dgm:t>
    </dgm:pt>
    <dgm:pt modelId="{9B2C617E-67B2-423D-BA22-93BA2BBCBB56}" type="sibTrans" cxnId="{E559B74D-46CD-4AEB-9133-6D09A700CC7B}">
      <dgm:prSet/>
      <dgm:spPr/>
      <dgm:t>
        <a:bodyPr/>
        <a:lstStyle/>
        <a:p>
          <a:endParaRPr lang="en-US"/>
        </a:p>
      </dgm:t>
    </dgm:pt>
    <dgm:pt modelId="{C6F0FA83-DCA0-4D91-B887-CCBA343A7C48}">
      <dgm:prSet/>
      <dgm:spPr/>
      <dgm:t>
        <a:bodyPr/>
        <a:lstStyle/>
        <a:p>
          <a:r>
            <a:rPr lang="en-US" dirty="0"/>
            <a:t>Provides necessary context to ensure the model grasps the significance of the key term.</a:t>
          </a:r>
        </a:p>
      </dgm:t>
    </dgm:pt>
    <dgm:pt modelId="{6A5C9499-2726-44DF-96E7-3B1DF1BE4192}" type="parTrans" cxnId="{715BF2CD-5852-4E42-BEDA-7D8A4A088673}">
      <dgm:prSet/>
      <dgm:spPr/>
      <dgm:t>
        <a:bodyPr/>
        <a:lstStyle/>
        <a:p>
          <a:endParaRPr lang="en-US"/>
        </a:p>
      </dgm:t>
    </dgm:pt>
    <dgm:pt modelId="{66115573-4EA3-4C0B-8284-7C0156DD2B3F}" type="sibTrans" cxnId="{715BF2CD-5852-4E42-BEDA-7D8A4A088673}">
      <dgm:prSet/>
      <dgm:spPr/>
      <dgm:t>
        <a:bodyPr/>
        <a:lstStyle/>
        <a:p>
          <a:endParaRPr lang="en-US"/>
        </a:p>
      </dgm:t>
    </dgm:pt>
    <dgm:pt modelId="{4065DBBD-9EA6-4BBF-A02B-403046F0DC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Utilizes overlapping windows to retain critical information at segment boundaries, minimizing content loss</a:t>
          </a:r>
        </a:p>
      </dgm:t>
    </dgm:pt>
    <dgm:pt modelId="{988CAE53-CEBB-4553-872B-43F0DDF8062D}" type="sibTrans" cxnId="{815FAB2C-2B47-4635-837D-6399B4DF219A}">
      <dgm:prSet/>
      <dgm:spPr/>
      <dgm:t>
        <a:bodyPr/>
        <a:lstStyle/>
        <a:p>
          <a:endParaRPr lang="en-US"/>
        </a:p>
      </dgm:t>
    </dgm:pt>
    <dgm:pt modelId="{2333A0C5-D843-4889-93C4-2CD46868C551}" type="parTrans" cxnId="{815FAB2C-2B47-4635-837D-6399B4DF219A}">
      <dgm:prSet/>
      <dgm:spPr/>
      <dgm:t>
        <a:bodyPr/>
        <a:lstStyle/>
        <a:p>
          <a:endParaRPr lang="en-US"/>
        </a:p>
      </dgm:t>
    </dgm:pt>
    <dgm:pt modelId="{18C876F3-5206-4903-932A-99778D1A694B}" type="pres">
      <dgm:prSet presAssocID="{5D0C522C-A306-47EA-AFEC-69E02DAAD35F}" presName="linear" presStyleCnt="0">
        <dgm:presLayoutVars>
          <dgm:dir/>
          <dgm:animLvl val="lvl"/>
          <dgm:resizeHandles val="exact"/>
        </dgm:presLayoutVars>
      </dgm:prSet>
      <dgm:spPr/>
    </dgm:pt>
    <dgm:pt modelId="{B59A7D93-839A-42D3-BE7B-BADE0EF1367E}" type="pres">
      <dgm:prSet presAssocID="{FB2CC3ED-6914-417A-B121-A8142DED75B8}" presName="parentLin" presStyleCnt="0"/>
      <dgm:spPr/>
    </dgm:pt>
    <dgm:pt modelId="{AE32B581-7689-4635-AEBD-4A32263CFCDC}" type="pres">
      <dgm:prSet presAssocID="{FB2CC3ED-6914-417A-B121-A8142DED75B8}" presName="parentLeftMargin" presStyleLbl="node1" presStyleIdx="0" presStyleCnt="2"/>
      <dgm:spPr/>
    </dgm:pt>
    <dgm:pt modelId="{F0F0EF7F-3FC7-42D3-B8B9-03A01D97CFC0}" type="pres">
      <dgm:prSet presAssocID="{FB2CC3ED-6914-417A-B121-A8142DED75B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9B97A2B-4422-4F0D-9C4B-90B4CED23DCC}" type="pres">
      <dgm:prSet presAssocID="{FB2CC3ED-6914-417A-B121-A8142DED75B8}" presName="negativeSpace" presStyleCnt="0"/>
      <dgm:spPr/>
    </dgm:pt>
    <dgm:pt modelId="{3681779C-27C2-4F98-AA57-9705EE81547D}" type="pres">
      <dgm:prSet presAssocID="{FB2CC3ED-6914-417A-B121-A8142DED75B8}" presName="childText" presStyleLbl="conFgAcc1" presStyleIdx="0" presStyleCnt="2">
        <dgm:presLayoutVars>
          <dgm:bulletEnabled val="1"/>
        </dgm:presLayoutVars>
      </dgm:prSet>
      <dgm:spPr/>
    </dgm:pt>
    <dgm:pt modelId="{CE8144D8-41B7-472B-B132-6ADABE58121D}" type="pres">
      <dgm:prSet presAssocID="{C5489644-ABC8-41F8-9B0F-877F76329C7C}" presName="spaceBetweenRectangles" presStyleCnt="0"/>
      <dgm:spPr/>
    </dgm:pt>
    <dgm:pt modelId="{1CF44DA6-D8C9-4C9B-B259-C772369A5990}" type="pres">
      <dgm:prSet presAssocID="{9FDE68D7-E8B5-411E-813A-FFECB8AF3353}" presName="parentLin" presStyleCnt="0"/>
      <dgm:spPr/>
    </dgm:pt>
    <dgm:pt modelId="{CB549C4B-9ED9-49B4-BC59-AA2204165163}" type="pres">
      <dgm:prSet presAssocID="{9FDE68D7-E8B5-411E-813A-FFECB8AF3353}" presName="parentLeftMargin" presStyleLbl="node1" presStyleIdx="0" presStyleCnt="2"/>
      <dgm:spPr/>
    </dgm:pt>
    <dgm:pt modelId="{4A001D75-64C0-499D-A239-5C1DD4C74625}" type="pres">
      <dgm:prSet presAssocID="{9FDE68D7-E8B5-411E-813A-FFECB8AF335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CA11351-B2CA-4DDA-ACFB-85D1B4D71743}" type="pres">
      <dgm:prSet presAssocID="{9FDE68D7-E8B5-411E-813A-FFECB8AF3353}" presName="negativeSpace" presStyleCnt="0"/>
      <dgm:spPr/>
    </dgm:pt>
    <dgm:pt modelId="{16D81A43-427D-4BEA-B009-890E4ACB48E7}" type="pres">
      <dgm:prSet presAssocID="{9FDE68D7-E8B5-411E-813A-FFECB8AF3353}" presName="childText" presStyleLbl="conFgAcc1" presStyleIdx="1" presStyleCnt="2" custScaleY="97303">
        <dgm:presLayoutVars>
          <dgm:bulletEnabled val="1"/>
        </dgm:presLayoutVars>
      </dgm:prSet>
      <dgm:spPr/>
    </dgm:pt>
  </dgm:ptLst>
  <dgm:cxnLst>
    <dgm:cxn modelId="{7D1F0F08-13E0-426F-BA3C-FCC3A82F4FC5}" type="presOf" srcId="{C6F0FA83-DCA0-4D91-B887-CCBA343A7C48}" destId="{16D81A43-427D-4BEA-B009-890E4ACB48E7}" srcOrd="0" destOrd="1" presId="urn:microsoft.com/office/officeart/2005/8/layout/list1"/>
    <dgm:cxn modelId="{39EB8D09-BE8B-4F96-A95B-F44857425369}" type="presOf" srcId="{5D0C522C-A306-47EA-AFEC-69E02DAAD35F}" destId="{18C876F3-5206-4903-932A-99778D1A694B}" srcOrd="0" destOrd="0" presId="urn:microsoft.com/office/officeart/2005/8/layout/list1"/>
    <dgm:cxn modelId="{7A56810C-4FE5-4672-BAB3-3513BE17188B}" srcId="{5D0C522C-A306-47EA-AFEC-69E02DAAD35F}" destId="{9FDE68D7-E8B5-411E-813A-FFECB8AF3353}" srcOrd="1" destOrd="0" parTransId="{7AF73F30-63DA-47D3-B208-E1FC79FC0615}" sibTransId="{D562836E-5E6F-49C6-8A21-CD3CAE0D7239}"/>
    <dgm:cxn modelId="{A9063116-2195-4485-9208-5FB26B0E98D0}" type="presOf" srcId="{AE783D70-18F2-414B-8847-08441FE601F2}" destId="{3681779C-27C2-4F98-AA57-9705EE81547D}" srcOrd="0" destOrd="2" presId="urn:microsoft.com/office/officeart/2005/8/layout/list1"/>
    <dgm:cxn modelId="{866B5A1F-3E81-4D95-8C55-BB11917F05EA}" type="presOf" srcId="{9FDE68D7-E8B5-411E-813A-FFECB8AF3353}" destId="{4A001D75-64C0-499D-A239-5C1DD4C74625}" srcOrd="1" destOrd="0" presId="urn:microsoft.com/office/officeart/2005/8/layout/list1"/>
    <dgm:cxn modelId="{815FAB2C-2B47-4635-837D-6399B4DF219A}" srcId="{FB2CC3ED-6914-417A-B121-A8142DED75B8}" destId="{4065DBBD-9EA6-4BBF-A02B-403046F0DC8A}" srcOrd="1" destOrd="0" parTransId="{2333A0C5-D843-4889-93C4-2CD46868C551}" sibTransId="{988CAE53-CEBB-4553-872B-43F0DDF8062D}"/>
    <dgm:cxn modelId="{267F1A2D-E29A-4D53-930A-BE4D80833648}" type="presOf" srcId="{9FDE68D7-E8B5-411E-813A-FFECB8AF3353}" destId="{CB549C4B-9ED9-49B4-BC59-AA2204165163}" srcOrd="0" destOrd="0" presId="urn:microsoft.com/office/officeart/2005/8/layout/list1"/>
    <dgm:cxn modelId="{6407DD39-F281-477C-8F6D-02FD4ECF1845}" type="presOf" srcId="{FB2CC3ED-6914-417A-B121-A8142DED75B8}" destId="{F0F0EF7F-3FC7-42D3-B8B9-03A01D97CFC0}" srcOrd="1" destOrd="0" presId="urn:microsoft.com/office/officeart/2005/8/layout/list1"/>
    <dgm:cxn modelId="{A62BAB66-6122-4986-A601-E4F1BC3B0E4B}" srcId="{FB2CC3ED-6914-417A-B121-A8142DED75B8}" destId="{B31D7109-5A16-46DE-B671-F5256BCA8D6F}" srcOrd="0" destOrd="0" parTransId="{1118D118-623F-4484-84A0-58F7109DDAE6}" sibTransId="{4C62A9EF-9625-415F-B5A1-7B6CA8F87917}"/>
    <dgm:cxn modelId="{E559B74D-46CD-4AEB-9133-6D09A700CC7B}" srcId="{9FDE68D7-E8B5-411E-813A-FFECB8AF3353}" destId="{1D1B6D1F-8384-470E-81B8-FE8F46EB3A46}" srcOrd="0" destOrd="0" parTransId="{C6D816AE-1386-4453-B22B-49F51BF06F45}" sibTransId="{9B2C617E-67B2-423D-BA22-93BA2BBCBB56}"/>
    <dgm:cxn modelId="{5D399358-C15B-4B1D-9D14-0A8E197F1266}" srcId="{FB2CC3ED-6914-417A-B121-A8142DED75B8}" destId="{AE783D70-18F2-414B-8847-08441FE601F2}" srcOrd="2" destOrd="0" parTransId="{679A5C93-FBE2-4FCA-868D-6B9A483E1ECF}" sibTransId="{C5DAF466-7482-4269-BD4D-0B3974713F5F}"/>
    <dgm:cxn modelId="{BEB95079-C369-413C-9238-EBB2A517D5DD}" type="presOf" srcId="{B31D7109-5A16-46DE-B671-F5256BCA8D6F}" destId="{3681779C-27C2-4F98-AA57-9705EE81547D}" srcOrd="0" destOrd="0" presId="urn:microsoft.com/office/officeart/2005/8/layout/list1"/>
    <dgm:cxn modelId="{5328CE79-9150-4B9F-AFD1-E0A269C10020}" type="presOf" srcId="{1D1B6D1F-8384-470E-81B8-FE8F46EB3A46}" destId="{16D81A43-427D-4BEA-B009-890E4ACB48E7}" srcOrd="0" destOrd="0" presId="urn:microsoft.com/office/officeart/2005/8/layout/list1"/>
    <dgm:cxn modelId="{715BF2CD-5852-4E42-BEDA-7D8A4A088673}" srcId="{9FDE68D7-E8B5-411E-813A-FFECB8AF3353}" destId="{C6F0FA83-DCA0-4D91-B887-CCBA343A7C48}" srcOrd="1" destOrd="0" parTransId="{6A5C9499-2726-44DF-96E7-3B1DF1BE4192}" sibTransId="{66115573-4EA3-4C0B-8284-7C0156DD2B3F}"/>
    <dgm:cxn modelId="{EBC33BD3-A364-40C5-B663-C3A0634FE4F3}" srcId="{5D0C522C-A306-47EA-AFEC-69E02DAAD35F}" destId="{FB2CC3ED-6914-417A-B121-A8142DED75B8}" srcOrd="0" destOrd="0" parTransId="{C5375BF6-0665-4178-B7C1-9C1D5FE53E29}" sibTransId="{C5489644-ABC8-41F8-9B0F-877F76329C7C}"/>
    <dgm:cxn modelId="{2BD13CE9-FF48-4F97-B954-9C90BF2613CC}" type="presOf" srcId="{4065DBBD-9EA6-4BBF-A02B-403046F0DC8A}" destId="{3681779C-27C2-4F98-AA57-9705EE81547D}" srcOrd="0" destOrd="1" presId="urn:microsoft.com/office/officeart/2005/8/layout/list1"/>
    <dgm:cxn modelId="{FA5B4AF8-8D78-45E9-9F06-F5B01FED5790}" type="presOf" srcId="{FB2CC3ED-6914-417A-B121-A8142DED75B8}" destId="{AE32B581-7689-4635-AEBD-4A32263CFCDC}" srcOrd="0" destOrd="0" presId="urn:microsoft.com/office/officeart/2005/8/layout/list1"/>
    <dgm:cxn modelId="{2436697C-C68D-42BC-B442-14EEC0F032B6}" type="presParOf" srcId="{18C876F3-5206-4903-932A-99778D1A694B}" destId="{B59A7D93-839A-42D3-BE7B-BADE0EF1367E}" srcOrd="0" destOrd="0" presId="urn:microsoft.com/office/officeart/2005/8/layout/list1"/>
    <dgm:cxn modelId="{47249921-3D73-47DA-8BE8-D46D0E8285B1}" type="presParOf" srcId="{B59A7D93-839A-42D3-BE7B-BADE0EF1367E}" destId="{AE32B581-7689-4635-AEBD-4A32263CFCDC}" srcOrd="0" destOrd="0" presId="urn:microsoft.com/office/officeart/2005/8/layout/list1"/>
    <dgm:cxn modelId="{AC55C936-F7EF-460D-ADD1-E745952FCC1A}" type="presParOf" srcId="{B59A7D93-839A-42D3-BE7B-BADE0EF1367E}" destId="{F0F0EF7F-3FC7-42D3-B8B9-03A01D97CFC0}" srcOrd="1" destOrd="0" presId="urn:microsoft.com/office/officeart/2005/8/layout/list1"/>
    <dgm:cxn modelId="{99F6FF30-CED5-400E-AB7F-AED21BCD9CC3}" type="presParOf" srcId="{18C876F3-5206-4903-932A-99778D1A694B}" destId="{99B97A2B-4422-4F0D-9C4B-90B4CED23DCC}" srcOrd="1" destOrd="0" presId="urn:microsoft.com/office/officeart/2005/8/layout/list1"/>
    <dgm:cxn modelId="{D6184A7B-5AD2-432A-AD51-F1C4358FDB7C}" type="presParOf" srcId="{18C876F3-5206-4903-932A-99778D1A694B}" destId="{3681779C-27C2-4F98-AA57-9705EE81547D}" srcOrd="2" destOrd="0" presId="urn:microsoft.com/office/officeart/2005/8/layout/list1"/>
    <dgm:cxn modelId="{EF26BB2D-6147-46D5-8BF0-CD1BB80EC3E0}" type="presParOf" srcId="{18C876F3-5206-4903-932A-99778D1A694B}" destId="{CE8144D8-41B7-472B-B132-6ADABE58121D}" srcOrd="3" destOrd="0" presId="urn:microsoft.com/office/officeart/2005/8/layout/list1"/>
    <dgm:cxn modelId="{B724A893-990E-47A6-99B0-0A0FF531D86E}" type="presParOf" srcId="{18C876F3-5206-4903-932A-99778D1A694B}" destId="{1CF44DA6-D8C9-4C9B-B259-C772369A5990}" srcOrd="4" destOrd="0" presId="urn:microsoft.com/office/officeart/2005/8/layout/list1"/>
    <dgm:cxn modelId="{A4ABBBED-7590-417F-A9E9-8DE602E6149B}" type="presParOf" srcId="{1CF44DA6-D8C9-4C9B-B259-C772369A5990}" destId="{CB549C4B-9ED9-49B4-BC59-AA2204165163}" srcOrd="0" destOrd="0" presId="urn:microsoft.com/office/officeart/2005/8/layout/list1"/>
    <dgm:cxn modelId="{807C9303-BC5C-4DB8-947E-AA3E1A42FB03}" type="presParOf" srcId="{1CF44DA6-D8C9-4C9B-B259-C772369A5990}" destId="{4A001D75-64C0-499D-A239-5C1DD4C74625}" srcOrd="1" destOrd="0" presId="urn:microsoft.com/office/officeart/2005/8/layout/list1"/>
    <dgm:cxn modelId="{CF1557A0-6F80-40F0-8588-601B3B876FCA}" type="presParOf" srcId="{18C876F3-5206-4903-932A-99778D1A694B}" destId="{5CA11351-B2CA-4DDA-ACFB-85D1B4D71743}" srcOrd="5" destOrd="0" presId="urn:microsoft.com/office/officeart/2005/8/layout/list1"/>
    <dgm:cxn modelId="{E403DC91-C91A-478E-8489-2807A25EEEAF}" type="presParOf" srcId="{18C876F3-5206-4903-932A-99778D1A694B}" destId="{16D81A43-427D-4BEA-B009-890E4ACB48E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1779C-27C2-4F98-AA57-9705EE81547D}">
      <dsp:nvSpPr>
        <dsp:cNvPr id="0" name=""/>
        <dsp:cNvSpPr/>
      </dsp:nvSpPr>
      <dsp:spPr>
        <a:xfrm>
          <a:off x="0" y="706577"/>
          <a:ext cx="10220375" cy="17671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215" tIns="333248" rIns="793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Manages model’s fixed length input limits by segmenting longer texts, ensuring comprehensive text coverage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Utilizes overlapping windows to retain critical information at segment boundaries, minimizing content loss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Ensures all relevant text portions are analyzed, improving the model’s overall accuracy.</a:t>
          </a:r>
        </a:p>
      </dsp:txBody>
      <dsp:txXfrm>
        <a:off x="0" y="706577"/>
        <a:ext cx="10220375" cy="1767150"/>
      </dsp:txXfrm>
    </dsp:sp>
    <dsp:sp modelId="{F0F0EF7F-3FC7-42D3-B8B9-03A01D97CFC0}">
      <dsp:nvSpPr>
        <dsp:cNvPr id="0" name=""/>
        <dsp:cNvSpPr/>
      </dsp:nvSpPr>
      <dsp:spPr>
        <a:xfrm>
          <a:off x="511018" y="455657"/>
          <a:ext cx="7154262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414" tIns="0" rIns="2704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Sliding Window Approach:</a:t>
          </a:r>
        </a:p>
      </dsp:txBody>
      <dsp:txXfrm>
        <a:off x="535516" y="480155"/>
        <a:ext cx="7105266" cy="452844"/>
      </dsp:txXfrm>
    </dsp:sp>
    <dsp:sp modelId="{16D81A43-427D-4BEA-B009-890E4ACB48E7}">
      <dsp:nvSpPr>
        <dsp:cNvPr id="0" name=""/>
        <dsp:cNvSpPr/>
      </dsp:nvSpPr>
      <dsp:spPr>
        <a:xfrm>
          <a:off x="0" y="2816447"/>
          <a:ext cx="10220375" cy="963956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215" tIns="333248" rIns="793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Combines key aspect terms with surrounding text to form meaningful input sequences.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Provides necessary context to ensure the model grasps the significance of the key term.</a:t>
          </a:r>
        </a:p>
      </dsp:txBody>
      <dsp:txXfrm>
        <a:off x="0" y="2816447"/>
        <a:ext cx="10220375" cy="963956"/>
      </dsp:txXfrm>
    </dsp:sp>
    <dsp:sp modelId="{4A001D75-64C0-499D-A239-5C1DD4C74625}">
      <dsp:nvSpPr>
        <dsp:cNvPr id="0" name=""/>
        <dsp:cNvSpPr/>
      </dsp:nvSpPr>
      <dsp:spPr>
        <a:xfrm>
          <a:off x="511018" y="2565527"/>
          <a:ext cx="7154262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414" tIns="0" rIns="2704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Contextual input construction:</a:t>
          </a:r>
        </a:p>
      </dsp:txBody>
      <dsp:txXfrm>
        <a:off x="535516" y="2590025"/>
        <a:ext cx="7105266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E4EF4-9DAF-44BC-B3E0-108E26659EDB}" type="datetimeFigureOut">
              <a:rPr lang="en-IE" smtClean="0"/>
              <a:t>13/08/2024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99DCF-6E45-4317-897E-E5F807A6F2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380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9DCF-6E45-4317-897E-E5F807A6F2AB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395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7A0E-FA08-407B-E27E-58C9D0C2D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0D183-6717-B7E8-4D60-D82C4EF79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5AB2-B6C0-0AAE-9111-235D8E4C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7CE1-4E7E-4B3D-8A8D-7030EC5C6745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C580-DCBF-EAD6-6A32-5B2BA406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635BB-3D59-415F-335F-49F564E8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639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B139-1CCD-D529-CABD-DEE75135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2FD1E-05D3-1D76-4134-54209792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C5797-35F6-6743-AAD1-0C6FFC65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9049D-AC79-45AD-A488-F9509D9B6D05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54DB9-5766-CA7C-C6D6-115F63AF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CE975-9A1F-0E9B-5F6F-0F7566B5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4064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5AAC-1A05-3F4B-9EA5-ABB46A6A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E10F8-A719-7250-3F91-8CEED405E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833D-5D5C-867C-BB3D-C88F9250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30D7-D89D-45BB-B18A-5C0A1FB1D60E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5F91-3266-E396-408A-D2E285FE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E8702-A629-4393-EBFD-3E0051A1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23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916A-66D5-F897-11CD-F3EF2289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E0968-6777-2C96-6913-45BA46911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51EF4-CEAA-DF6D-A5C0-870D94FC5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37625-CD42-8FBE-5144-80157C17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35AE-081F-4317-9219-80E78681DF34}" type="datetime1">
              <a:rPr lang="en-IE" smtClean="0"/>
              <a:t>13/08/2024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E75B3-9CDE-ACB5-5D1A-A0DAEFFC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AB9E4-562A-7469-0ECF-CFEF5FA3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9914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CA8B-BBDD-0B33-2EA5-FF3B1C97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7006-F394-F758-50E0-AD423844E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B7B89-9E8D-BCC4-E49B-9238641C8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F07D5-ACBD-7375-FC97-E2BBFD0F2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EFF2B-7BF1-E764-08B4-249A1AB8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8E4F6-BA66-C672-9C00-4407DCA9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D46D-1A36-4935-996F-9A96362904FC}" type="datetime1">
              <a:rPr lang="en-IE" smtClean="0"/>
              <a:t>13/08/2024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88CC5-A0C4-FB5B-D69F-3DA670BF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0FA24-85E6-2E02-6C5B-F5BDCCA8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373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AA7C-593B-61DD-6AC7-01B744CB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468CE-1548-A2FF-ACC8-BD302C3C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5EFE-07BB-40AA-815F-D7BE6FE0488A}" type="datetime1">
              <a:rPr lang="en-IE" smtClean="0"/>
              <a:t>13/08/2024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3BF7E-FB62-5C9C-8914-C9F81438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D04A0-C3D7-6538-583F-57AA05AC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647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0ED55-BA81-8EDE-6C87-F9450796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E25-054A-4D97-AE3E-9EA3A2DE6448}" type="datetime1">
              <a:rPr lang="en-IE" smtClean="0"/>
              <a:t>13/08/2024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3A758-A9BE-F8FC-4C2F-860358C1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6CA48-F287-8DF5-812C-18C7F56D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55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AF1C-781D-AB2B-C580-8A3C96C3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CC5C-5E24-6029-23EE-2BAEC033D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4E45E-8989-429C-AD42-83BA66167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17CA9-EE71-3E85-C894-9CD6B02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E953-33CF-4670-BE53-6501ED465C35}" type="datetime1">
              <a:rPr lang="en-IE" smtClean="0"/>
              <a:t>13/08/2024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A39E9-C945-5603-C9FE-8579ACEF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093BC-AAE2-40B7-E0BB-66319900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817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2DCC-DFDA-2C71-BCFB-6986257DF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4DD2-8396-9049-801D-CB5EC49F8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C8D23-50A9-3BC2-26C3-728D8B8AA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598F6-ECB3-AA0E-86A8-AFBC7FBE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AFDE-4547-45E0-A353-CD67382FC37C}" type="datetime1">
              <a:rPr lang="en-IE" smtClean="0"/>
              <a:t>13/08/2024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FA780-F15F-4D3C-C4B8-FDB12B07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BDFB5-D1A4-58C4-2A0D-29C5FA05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828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DC5E-F7F1-9B29-1A0A-635F557E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4C898-B845-391C-1FFE-D83BBF0AA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4153-87B1-544A-CAC7-56C63A39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8A5-AC7B-4267-952D-EEED08F3AB91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281C-11FC-C08A-68AF-CC8D28D4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59825-88B2-9050-2A47-D6E69978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40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F251A-B3A3-3236-24AB-87746C1D2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8DE6C-D1EA-5AA8-1BAC-44C42F36D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213E-4C54-1306-4553-5C035CD2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BC0F8-56F5-4FEC-92CF-D39C842C2037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77986-DD2F-DA6B-58F3-788EA50B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C84A-9F12-F8D4-C901-B66890B0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832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2CA7C-14E0-EEF6-99D7-96AD45D2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7E16A-9773-08C5-C7A3-E0BF7274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FE73-E5C0-D4F1-2769-55FB4745C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A6D65-D494-449B-A079-BE2907F3DDA8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C5004-A70A-E6DB-24A7-644096167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231D4-457E-AA31-A3CE-FED8D325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028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36BA42E-7C2F-6DDD-CF94-9F0718FBD472}"/>
              </a:ext>
            </a:extLst>
          </p:cNvPr>
          <p:cNvSpPr txBox="1">
            <a:spLocks/>
          </p:cNvSpPr>
          <p:nvPr/>
        </p:nvSpPr>
        <p:spPr>
          <a:xfrm>
            <a:off x="862769" y="1357842"/>
            <a:ext cx="11090662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ea typeface="Calibri" panose="020F0502020204030204" pitchFamily="34" charset="0"/>
                <a:cs typeface="Calibri" panose="020F0502020204030204" pitchFamily="34" charset="0"/>
              </a:rPr>
              <a:t>FINE-TUNING ASPECT BASED SENTIMENT ANALYSIS USING TRANSFORMER BASED MODELS</a:t>
            </a:r>
          </a:p>
        </p:txBody>
      </p:sp>
      <p:pic>
        <p:nvPicPr>
          <p:cNvPr id="19" name="Picture 18" descr="A logo with a yellow swoosh&#10;&#10;Description automatically generated">
            <a:extLst>
              <a:ext uri="{FF2B5EF4-FFF2-40B4-BE49-F238E27FC236}">
                <a16:creationId xmlns:a16="http://schemas.microsoft.com/office/drawing/2014/main" id="{1E740244-77DD-FA48-D80D-C26CE21FB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2EC4FC-C017-0648-772E-C0FCFCBD3D59}"/>
              </a:ext>
            </a:extLst>
          </p:cNvPr>
          <p:cNvSpPr txBox="1"/>
          <p:nvPr/>
        </p:nvSpPr>
        <p:spPr>
          <a:xfrm>
            <a:off x="924357" y="4082915"/>
            <a:ext cx="2826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Dev Anand Jayakumar</a:t>
            </a:r>
          </a:p>
          <a:p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School of Computing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Dublin City University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Ireland</a:t>
            </a:r>
            <a:endParaRPr lang="en-IE" sz="2000" dirty="0"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C01A9-CF51-FDB9-2E79-2A0C3387EBFB}"/>
              </a:ext>
            </a:extLst>
          </p:cNvPr>
          <p:cNvSpPr txBox="1"/>
          <p:nvPr/>
        </p:nvSpPr>
        <p:spPr>
          <a:xfrm>
            <a:off x="5965751" y="4082915"/>
            <a:ext cx="2826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Rahul Shankar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School of Computing</a:t>
            </a:r>
          </a:p>
          <a:p>
            <a:pPr algn="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Dublin City University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Ireland</a:t>
            </a:r>
            <a:endParaRPr lang="en-IE" sz="2000" dirty="0"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B00404-3881-9A7C-124B-6DE41E74E983}"/>
              </a:ext>
            </a:extLst>
          </p:cNvPr>
          <p:cNvSpPr txBox="1"/>
          <p:nvPr/>
        </p:nvSpPr>
        <p:spPr>
          <a:xfrm>
            <a:off x="4230324" y="3429000"/>
            <a:ext cx="270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Presented by</a:t>
            </a:r>
            <a:endParaRPr lang="en-IE" sz="2000" dirty="0"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18AF0D2-0F3B-6B8C-4673-5172F968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6471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2B6A16-6C8D-C3EE-FBCF-A3E1B9706B72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cap="none" dirty="0">
                <a:latin typeface="+mj-lt"/>
              </a:rPr>
              <a:t>CONTENTS</a:t>
            </a: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674012CB-CCEC-8C7E-FFCB-23F04D37D0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20CB61-1EAA-ED71-8E59-1B312445A6A2}"/>
              </a:ext>
            </a:extLst>
          </p:cNvPr>
          <p:cNvSpPr txBox="1"/>
          <p:nvPr/>
        </p:nvSpPr>
        <p:spPr>
          <a:xfrm>
            <a:off x="771773" y="1467955"/>
            <a:ext cx="52679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Related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Aspect Term Extraction &amp; Aspect Sentiment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Overview of Traditional Methods for Aspect Based Sentiment Analysis (ABSA)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Comparison : Transformer models for Overall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284DA-492C-1017-742E-22FA04B85BDE}"/>
              </a:ext>
            </a:extLst>
          </p:cNvPr>
          <p:cNvSpPr txBox="1"/>
          <p:nvPr/>
        </p:nvSpPr>
        <p:spPr>
          <a:xfrm>
            <a:off x="6802129" y="1330036"/>
            <a:ext cx="46274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Comparison : Transformer models for Aspect Based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Model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Proposed Method : Fine-tuning Aspect Based Sentiment Analysis using Transformer based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Conclusion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ea typeface="Verdana" panose="020B060403050404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063C894-8131-E04B-8161-BC8772D5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223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1B832C2-683E-211D-5CE0-02ACD97330C4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BCA48-94A2-C16E-2E1D-CA5BD958CD57}"/>
              </a:ext>
            </a:extLst>
          </p:cNvPr>
          <p:cNvSpPr txBox="1"/>
          <p:nvPr/>
        </p:nvSpPr>
        <p:spPr>
          <a:xfrm>
            <a:off x="6096000" y="649480"/>
            <a:ext cx="526960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/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digital era has led to a vast amount of user-generated reviews, offering key insights into public sentiment.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Reviews help business owners strategize by understanding public opinions about their restaurants.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Aspect-Based Sentiment Analysis (ABSA) captures emotions related to specific aspects, offering more detailed insights than overall sentiment analysis.</a:t>
            </a:r>
          </a:p>
          <a:p>
            <a:pPr marL="57150" algn="just">
              <a:lnSpc>
                <a:spcPct val="90000"/>
              </a:lnSpc>
              <a:spcAft>
                <a:spcPts val="800"/>
              </a:spcAft>
            </a:pPr>
            <a:r>
              <a:rPr lang="en-US" sz="2000" dirty="0"/>
              <a:t>Objective: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objective is to compare Transformer models' performance in ABSA, focusing on extracting relevant aspect terms and classifying their sentiment.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502F148-4F73-19CF-7FCB-8FEA800B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D54F57-D666-58E0-95FA-11AD678F4274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7EED3B46-78FA-80A9-6E80-D70B6C56DB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4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EAF91-B4C5-A2FC-F768-857CAD14475D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B8978-86E5-8425-7F34-881DCBAC212C}"/>
              </a:ext>
            </a:extLst>
          </p:cNvPr>
          <p:cNvSpPr txBox="1"/>
          <p:nvPr/>
        </p:nvSpPr>
        <p:spPr>
          <a:xfrm>
            <a:off x="6302478" y="649480"/>
            <a:ext cx="5063128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800"/>
              </a:spcAft>
            </a:pPr>
            <a:r>
              <a:rPr lang="en-US" sz="2000" dirty="0"/>
              <a:t>Research Question:</a:t>
            </a:r>
          </a:p>
          <a:p>
            <a:pPr marL="742950" lvl="1" indent="-228600" algn="just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Extracting Key Aspect Terms</a:t>
            </a:r>
            <a:r>
              <a:rPr lang="en-US" sz="2000" dirty="0"/>
              <a:t>: How well can Transformer models can identify important aspect terms in user reviews and determine the sentiment expressed towards each aspect ?</a:t>
            </a:r>
          </a:p>
          <a:p>
            <a:pPr marL="742950" lvl="1" indent="-228600" algn="just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Comparative Analysis</a:t>
            </a:r>
            <a:r>
              <a:rPr lang="en-US" sz="2000" dirty="0"/>
              <a:t>: How different Transformer models perform on Aspect-Based Sentiment Analysis on our restaurant review dataset ?</a:t>
            </a:r>
          </a:p>
          <a:p>
            <a:pPr marL="228600" lvl="1" algn="just">
              <a:lnSpc>
                <a:spcPct val="90000"/>
              </a:lnSpc>
              <a:spcAft>
                <a:spcPts val="800"/>
              </a:spcAft>
            </a:pPr>
            <a:endParaRPr lang="en-US" sz="20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0302FD-BE0C-AD08-24AD-309020BB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4D880-EFF3-B79C-1AA6-2DEFE84F4239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B6891D39-E193-D72D-8629-75BDAC20C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957" y="206817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5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EAF91-B4C5-A2FC-F768-857CAD14475D}"/>
              </a:ext>
            </a:extLst>
          </p:cNvPr>
          <p:cNvSpPr txBox="1">
            <a:spLocks/>
          </p:cNvSpPr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/>
              <a:t>RELATED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WORKS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CF496-99E8-EC4A-B44D-2F18DDAE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4D880-EFF3-B79C-1AA6-2DEFE84F4239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B6891D39-E193-D72D-8629-75BDAC20C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76" y="276289"/>
            <a:ext cx="1392741" cy="94844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AEF80B-2CD0-2E1A-3211-3B414B1BC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05643"/>
              </p:ext>
            </p:extLst>
          </p:nvPr>
        </p:nvGraphicFramePr>
        <p:xfrm>
          <a:off x="723900" y="2690483"/>
          <a:ext cx="10744201" cy="32756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579">
                  <a:extLst>
                    <a:ext uri="{9D8B030D-6E8A-4147-A177-3AD203B41FA5}">
                      <a16:colId xmlns:a16="http://schemas.microsoft.com/office/drawing/2014/main" val="2200573956"/>
                    </a:ext>
                  </a:extLst>
                </a:gridCol>
                <a:gridCol w="1934543">
                  <a:extLst>
                    <a:ext uri="{9D8B030D-6E8A-4147-A177-3AD203B41FA5}">
                      <a16:colId xmlns:a16="http://schemas.microsoft.com/office/drawing/2014/main" val="378680103"/>
                    </a:ext>
                  </a:extLst>
                </a:gridCol>
                <a:gridCol w="3819831">
                  <a:extLst>
                    <a:ext uri="{9D8B030D-6E8A-4147-A177-3AD203B41FA5}">
                      <a16:colId xmlns:a16="http://schemas.microsoft.com/office/drawing/2014/main" val="3361745680"/>
                    </a:ext>
                  </a:extLst>
                </a:gridCol>
                <a:gridCol w="3899248">
                  <a:extLst>
                    <a:ext uri="{9D8B030D-6E8A-4147-A177-3AD203B41FA5}">
                      <a16:colId xmlns:a16="http://schemas.microsoft.com/office/drawing/2014/main" val="1089733000"/>
                    </a:ext>
                  </a:extLst>
                </a:gridCol>
              </a:tblGrid>
              <a:tr h="261722"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Paper Name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Dataset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Key Methodology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Future Work</a:t>
                      </a:r>
                    </a:p>
                  </a:txBody>
                  <a:tcPr marL="14559" marR="14559" marT="9706" marB="9706" anchor="b"/>
                </a:tc>
                <a:extLst>
                  <a:ext uri="{0D108BD9-81ED-4DB2-BD59-A6C34878D82A}">
                    <a16:rowId xmlns:a16="http://schemas.microsoft.com/office/drawing/2014/main" val="3892092947"/>
                  </a:ext>
                </a:extLst>
              </a:tr>
              <a:tr h="519041">
                <a:tc>
                  <a:txBody>
                    <a:bodyPr/>
                    <a:lstStyle/>
                    <a:p>
                      <a:r>
                        <a:rPr lang="en-US" sz="1400"/>
                        <a:t>[2]</a:t>
                      </a:r>
                    </a:p>
                  </a:txBody>
                  <a:tcPr marL="69881" marR="69881" marT="34940" marB="34940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Laptops, Restaurants, Hotels</a:t>
                      </a:r>
                    </a:p>
                  </a:txBody>
                  <a:tcPr marL="69881" marR="69881" marT="34940" marB="3494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Introduced a standardized benchmark dataset and evaluation metrics for ABSA</a:t>
                      </a:r>
                    </a:p>
                  </a:txBody>
                  <a:tcPr marL="69881" marR="69881" marT="34940" marB="3494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Expand ABSA to other languages and domain</a:t>
                      </a:r>
                    </a:p>
                  </a:txBody>
                  <a:tcPr marL="69881" marR="69881" marT="34940" marB="34940" anchor="ctr"/>
                </a:tc>
                <a:extLst>
                  <a:ext uri="{0D108BD9-81ED-4DB2-BD59-A6C34878D82A}">
                    <a16:rowId xmlns:a16="http://schemas.microsoft.com/office/drawing/2014/main" val="3488099044"/>
                  </a:ext>
                </a:extLst>
              </a:tr>
              <a:tr h="46857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[5]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BooksCorpus, English Wikipedia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Introduced BERT for various NLP tasks, including sentiment analysis.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Explore fine-tuning BERT for domain-specific tasks like ABSA.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545340820"/>
                  </a:ext>
                </a:extLst>
              </a:tr>
              <a:tr h="675422"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[9]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Restaurant16, Twitter15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Fine-tuned BERT for joint aspect extraction and sentiment classification (ABSA) using a multi-task learning framework.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Explore incorporating contextual information beyond the aspect term for better sentiment prediction.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3191111786"/>
                  </a:ext>
                </a:extLst>
              </a:tr>
              <a:tr h="67542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[14]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Laptop14, Restaurant16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Fine-tuned BERT for ABSA, utilizing a self-attention mechanism to capture contextual information for sentiment classification.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Investigate the impact of different pre-training objectives on ABSA performance.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1273958312"/>
                  </a:ext>
                </a:extLst>
              </a:tr>
              <a:tr h="67542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[19]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SemEval 2014 Task 4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Evaluated the effectiveness of fine-tuning large language models like GPT-3.5 for ABSA, highlighting their potential and limitations.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Explore GPT for fine-tuning large language models and investigate the trade-off between accuracy and computational resources for ABSA tasks.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492299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42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EAF91-B4C5-A2FC-F768-857CAD1447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4D880-EFF3-B79C-1AA6-2DEFE84F4239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B6891D39-E193-D72D-8629-75BDAC20C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76" y="2762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388DC1-91D3-C662-BDDE-FFF2B2AF5258}"/>
              </a:ext>
            </a:extLst>
          </p:cNvPr>
          <p:cNvSpPr txBox="1"/>
          <p:nvPr/>
        </p:nvSpPr>
        <p:spPr>
          <a:xfrm>
            <a:off x="1156830" y="2311888"/>
            <a:ext cx="1058486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dirty="0">
                <a:ea typeface="Verdana" panose="020B0604030504040204" pitchFamily="34" charset="0"/>
              </a:rPr>
              <a:t>Source: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Yelp Restaurant review dataset from Kaggle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Dataset contains nearly 6 million user reviews (records) on restaurants foods, its ambiance and overall.</a:t>
            </a:r>
          </a:p>
          <a:p>
            <a:pPr marL="457200" lvl="1" indent="0" algn="just">
              <a:spcAft>
                <a:spcPts val="600"/>
              </a:spcAft>
              <a:buFont typeface="Arial" panose="020B0604020202020204" pitchFamily="34" charset="0"/>
              <a:buNone/>
            </a:pPr>
            <a:endParaRPr lang="en-IE" sz="2000" dirty="0"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F5060-5527-4AC2-EECE-A4A0AF443B58}"/>
              </a:ext>
            </a:extLst>
          </p:cNvPr>
          <p:cNvSpPr txBox="1"/>
          <p:nvPr/>
        </p:nvSpPr>
        <p:spPr>
          <a:xfrm>
            <a:off x="1156840" y="4273320"/>
            <a:ext cx="105848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dirty="0">
                <a:ea typeface="Verdana" panose="020B0604030504040204" pitchFamily="34" charset="0"/>
              </a:rPr>
              <a:t>Labeled dataset: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 err="1">
                <a:ea typeface="Verdana" panose="020B0604030504040204" pitchFamily="34" charset="0"/>
              </a:rPr>
              <a:t>SemEval</a:t>
            </a:r>
            <a:r>
              <a:rPr lang="en-IE" sz="2000" dirty="0">
                <a:ea typeface="Verdana" panose="020B0604030504040204" pitchFamily="34" charset="0"/>
              </a:rPr>
              <a:t> 2014 dataset on restaurant reviews.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Dataset contains comments, Aspect Terms and its sentiment, Aspect Category and its sentiment.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B6CB-7614-8A49-E69C-BD34C105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383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PREPROCESSING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FF870-D671-0E60-A736-87E39DCF1317}"/>
              </a:ext>
            </a:extLst>
          </p:cNvPr>
          <p:cNvSpPr txBox="1"/>
          <p:nvPr/>
        </p:nvSpPr>
        <p:spPr>
          <a:xfrm>
            <a:off x="1155548" y="2217343"/>
            <a:ext cx="10768261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Applied preprocessing techniques to improve the Transformer models' understanding and performance on restaurant review data.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 </a:t>
            </a:r>
            <a:r>
              <a:rPr lang="en-US" sz="2000" dirty="0" err="1"/>
              <a:t>Preprocsssing</a:t>
            </a:r>
            <a:r>
              <a:rPr lang="en-US" sz="2000" dirty="0"/>
              <a:t> steps: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HTML tags/ URL/ symbols removal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Part-Of-Speech (POS) tagging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Syntactic parsing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Coreference resolution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BIO tagging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Padding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Attention masks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4CAEEEA-032C-BAD0-7B2C-CE3F9F51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3298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PREPROCESSING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E429E99-DBA0-FEDC-873D-A4B93568B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8042"/>
            <a:ext cx="12192000" cy="25898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349AD8-7248-160F-469B-256FE726F8E0}"/>
              </a:ext>
            </a:extLst>
          </p:cNvPr>
          <p:cNvSpPr txBox="1"/>
          <p:nvPr/>
        </p:nvSpPr>
        <p:spPr>
          <a:xfrm>
            <a:off x="314632" y="5084942"/>
            <a:ext cx="11690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ea typeface="Verdana" panose="020B0604030504040204" pitchFamily="34" charset="0"/>
              </a:rPr>
              <a:t>	The above example demonstrates on how the data is represented after POS tagging, Syntactic parsing, Coreference resolution.</a:t>
            </a:r>
            <a:endParaRPr lang="en-IE" sz="2000" dirty="0">
              <a:ea typeface="Verdan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D8A9F-1C45-8F2E-AFED-FD8833F7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832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PREPROCESSING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0E510E-4F34-D4C9-6931-2AC74F4B0B51}"/>
              </a:ext>
            </a:extLst>
          </p:cNvPr>
          <p:cNvSpPr txBox="1"/>
          <p:nvPr/>
        </p:nvSpPr>
        <p:spPr>
          <a:xfrm>
            <a:off x="838195" y="2415082"/>
            <a:ext cx="10515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ea typeface="Verdana" panose="020B0604030504040204" pitchFamily="34" charset="0"/>
              </a:rPr>
              <a:t>Stop-word removal causes the following:</a:t>
            </a:r>
          </a:p>
          <a:p>
            <a:pPr marL="16573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Loss of contextual meaning</a:t>
            </a:r>
          </a:p>
          <a:p>
            <a:pPr marL="16573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Impact on Aspect Identification</a:t>
            </a:r>
          </a:p>
          <a:p>
            <a:pPr marL="16573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Inaccurate Sentiment classification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7009F-E8AD-5C69-903F-606C7483C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369" y="4197725"/>
            <a:ext cx="5282780" cy="19432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8AE0C-6977-77DA-A36A-E7D2700D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5544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ASPECT TERMS EXTRACTION &amp; ASPECT SENTIMENT CLASSIFICATION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215601-5917-86AD-D785-BB0BCF631A3C}"/>
              </a:ext>
            </a:extLst>
          </p:cNvPr>
          <p:cNvSpPr txBox="1"/>
          <p:nvPr/>
        </p:nvSpPr>
        <p:spPr>
          <a:xfrm>
            <a:off x="950373" y="2612909"/>
            <a:ext cx="10766959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300" b="1" dirty="0"/>
              <a:t>Aspect Term Extraction (ATE):</a:t>
            </a:r>
            <a:r>
              <a:rPr lang="en-US" sz="2300" dirty="0"/>
              <a:t> </a:t>
            </a:r>
          </a:p>
          <a:p>
            <a:pPr marL="1257300" lvl="2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Identifies key features (e.g., "service," "food") in reviews, enabling more targeted sentiment analysis than general sentiment evaluation.</a:t>
            </a:r>
          </a:p>
          <a:p>
            <a:pPr lvl="2" algn="just">
              <a:spcAft>
                <a:spcPts val="600"/>
              </a:spcAft>
            </a:pPr>
            <a:endParaRPr lang="en-US" sz="2300" dirty="0">
              <a:ea typeface="Verdana" panose="020B060403050404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2300" b="1" dirty="0">
                <a:ea typeface="Verdana" panose="020B0604030504040204" pitchFamily="34" charset="0"/>
              </a:rPr>
              <a:t>Aspect Sentiment Classification (ASC):</a:t>
            </a:r>
          </a:p>
          <a:p>
            <a:pPr marL="1200150" lvl="2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Determines if the sentiment toward each identified aspect is positive, negative, or neutral, offering specific insights for targeted improvements. </a:t>
            </a:r>
          </a:p>
          <a:p>
            <a:pPr lvl="3" algn="just">
              <a:spcAft>
                <a:spcPts val="600"/>
              </a:spcAft>
            </a:pPr>
            <a:endParaRPr lang="en-IE" sz="2300" dirty="0">
              <a:ea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A084E-EEB2-7CEE-FE52-FC8847AB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743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009367" y="36368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OVERVIEW OF TRADITIONAL  METHODS FOR ABSA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4B798-58D9-C303-688B-DA0BDBBD3DA9}"/>
              </a:ext>
            </a:extLst>
          </p:cNvPr>
          <p:cNvSpPr txBox="1"/>
          <p:nvPr/>
        </p:nvSpPr>
        <p:spPr>
          <a:xfrm>
            <a:off x="1009367" y="2207225"/>
            <a:ext cx="10515600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Explored Machine Learning, and Lexicon-based methods.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Utilized SVM with TF-IDF and Lexicon methods with </a:t>
            </a:r>
            <a:r>
              <a:rPr lang="en-US" sz="2000" dirty="0" err="1"/>
              <a:t>spaCy</a:t>
            </a:r>
            <a:r>
              <a:rPr lang="en-US" sz="2000" dirty="0"/>
              <a:t> and VADER.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Applied TF-IDF in the SVM approach for feature extraction.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Leveraged </a:t>
            </a:r>
            <a:r>
              <a:rPr lang="en-US" sz="2000" dirty="0" err="1"/>
              <a:t>spaCy</a:t>
            </a:r>
            <a:r>
              <a:rPr lang="en-US" sz="2000" dirty="0"/>
              <a:t> for aspect extraction and VADER for sentiment analysis in the Lexicon-based method.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E" sz="2000" dirty="0">
              <a:ea typeface="Verdana" panose="020B060403050404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7B0096-3194-FDCD-25B2-27798874A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464840"/>
              </p:ext>
            </p:extLst>
          </p:nvPr>
        </p:nvGraphicFramePr>
        <p:xfrm>
          <a:off x="1015834" y="4526281"/>
          <a:ext cx="10393220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8644">
                  <a:extLst>
                    <a:ext uri="{9D8B030D-6E8A-4147-A177-3AD203B41FA5}">
                      <a16:colId xmlns:a16="http://schemas.microsoft.com/office/drawing/2014/main" val="208315151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33459838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1109899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9724622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484213994"/>
                    </a:ext>
                  </a:extLst>
                </a:gridCol>
              </a:tblGrid>
              <a:tr h="34456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42178"/>
                  </a:ext>
                </a:extLst>
              </a:tr>
              <a:tr h="594722">
                <a:tc>
                  <a:txBody>
                    <a:bodyPr/>
                    <a:lstStyle/>
                    <a:p>
                      <a:r>
                        <a:rPr lang="en-US" dirty="0"/>
                        <a:t>SVM based approach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00338"/>
                  </a:ext>
                </a:extLst>
              </a:tr>
              <a:tr h="594722">
                <a:tc>
                  <a:txBody>
                    <a:bodyPr/>
                    <a:lstStyle/>
                    <a:p>
                      <a:r>
                        <a:rPr lang="en-US" dirty="0"/>
                        <a:t>Lexicon based approach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84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31E27-AAC4-8850-BC92-1255A385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754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009367" y="36368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 OF TRANSFORMER MODELS ON OVERALL SENTIMENT 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FFE95B-B96C-A5DF-C59B-2E4D2EBB45E6}"/>
              </a:ext>
            </a:extLst>
          </p:cNvPr>
          <p:cNvSpPr txBox="1"/>
          <p:nvPr/>
        </p:nvSpPr>
        <p:spPr>
          <a:xfrm>
            <a:off x="838200" y="2113469"/>
            <a:ext cx="105156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Evaluated BERT, </a:t>
            </a:r>
            <a:r>
              <a:rPr lang="en-US" sz="2000" dirty="0" err="1"/>
              <a:t>RoBERTa</a:t>
            </a:r>
            <a:r>
              <a:rPr lang="en-US" sz="2000" dirty="0"/>
              <a:t>, and GPT for overall sentiment analysis</a:t>
            </a:r>
            <a:r>
              <a:rPr lang="en-US" sz="2000" dirty="0"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Applied these transformer models to predict overall sentiment, establishing a baseline and assessing their capacity for sentiment analysis.</a:t>
            </a:r>
            <a:endParaRPr lang="en-US" sz="2000" dirty="0">
              <a:ea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DCF019-BE55-9CA8-4A37-AB0789BF9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941987"/>
              </p:ext>
            </p:extLst>
          </p:nvPr>
        </p:nvGraphicFramePr>
        <p:xfrm>
          <a:off x="960580" y="3590329"/>
          <a:ext cx="10393220" cy="1806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8644">
                  <a:extLst>
                    <a:ext uri="{9D8B030D-6E8A-4147-A177-3AD203B41FA5}">
                      <a16:colId xmlns:a16="http://schemas.microsoft.com/office/drawing/2014/main" val="208315151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3345983806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111098996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1708357807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972462206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950197413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1484213994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3064282018"/>
                    </a:ext>
                  </a:extLst>
                </a:gridCol>
              </a:tblGrid>
              <a:tr h="5257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 (P &amp; N)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 (P &amp; N)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 (P &amp; N)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42178"/>
                  </a:ext>
                </a:extLst>
              </a:tr>
              <a:tr h="429337">
                <a:tc>
                  <a:txBody>
                    <a:bodyPr/>
                    <a:lstStyle/>
                    <a:p>
                      <a:r>
                        <a:rPr lang="en-US" dirty="0"/>
                        <a:t>BERT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00338"/>
                  </a:ext>
                </a:extLst>
              </a:tr>
              <a:tr h="434109">
                <a:tc>
                  <a:txBody>
                    <a:bodyPr/>
                    <a:lstStyle/>
                    <a:p>
                      <a:r>
                        <a:rPr lang="en-US" dirty="0" err="1"/>
                        <a:t>RoBERTa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847"/>
                  </a:ext>
                </a:extLst>
              </a:tr>
              <a:tr h="416921">
                <a:tc>
                  <a:txBody>
                    <a:bodyPr/>
                    <a:lstStyle/>
                    <a:p>
                      <a:r>
                        <a:rPr lang="en-US" dirty="0"/>
                        <a:t>GPT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6569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33BC3-6AE2-6B09-0F92-DC77FD16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12</a:t>
            </a:fld>
            <a:endParaRPr lang="en-I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763CE-EE14-157A-6AAD-F0237E87AD1B}"/>
              </a:ext>
            </a:extLst>
          </p:cNvPr>
          <p:cNvSpPr txBox="1"/>
          <p:nvPr/>
        </p:nvSpPr>
        <p:spPr>
          <a:xfrm>
            <a:off x="1009366" y="5781368"/>
            <a:ext cx="6600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*Where P represents Positive, and N represents Negative sentiments</a:t>
            </a:r>
            <a:endParaRPr lang="en-IE" sz="1600" dirty="0"/>
          </a:p>
        </p:txBody>
      </p:sp>
    </p:spTree>
    <p:extLst>
      <p:ext uri="{BB962C8B-B14F-4D97-AF65-F5344CB8AC3E}">
        <p14:creationId xmlns:p14="http://schemas.microsoft.com/office/powerpoint/2010/main" val="49530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920877" y="306074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 OF TRANSFORMER MODELS ON ASPECT BASED SENTIMENT 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202CA-3095-D8C7-65D6-140FE2234841}"/>
              </a:ext>
            </a:extLst>
          </p:cNvPr>
          <p:cNvSpPr txBox="1"/>
          <p:nvPr/>
        </p:nvSpPr>
        <p:spPr>
          <a:xfrm>
            <a:off x="920877" y="2404343"/>
            <a:ext cx="1051560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Evaluated BERT, </a:t>
            </a:r>
            <a:r>
              <a:rPr lang="en-US" sz="2000" dirty="0" err="1"/>
              <a:t>RoBERTa</a:t>
            </a:r>
            <a:r>
              <a:rPr lang="en-US" sz="2000" dirty="0"/>
              <a:t>, and GPT for Aspect-Based Sentiment Analysis</a:t>
            </a:r>
            <a:r>
              <a:rPr lang="en-US" sz="2000" dirty="0"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BERT and GPT outperformed </a:t>
            </a:r>
            <a:r>
              <a:rPr lang="en-US" sz="2000" dirty="0" err="1"/>
              <a:t>RoBERTa</a:t>
            </a:r>
            <a:r>
              <a:rPr lang="en-US" sz="2000" dirty="0"/>
              <a:t> in the analysis.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4A3274-AB68-B706-1356-FE0470857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538649"/>
              </p:ext>
            </p:extLst>
          </p:nvPr>
        </p:nvGraphicFramePr>
        <p:xfrm>
          <a:off x="1156851" y="3954101"/>
          <a:ext cx="10393220" cy="17341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8644">
                  <a:extLst>
                    <a:ext uri="{9D8B030D-6E8A-4147-A177-3AD203B41FA5}">
                      <a16:colId xmlns:a16="http://schemas.microsoft.com/office/drawing/2014/main" val="208315151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33459838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1109899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9724622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484213994"/>
                    </a:ext>
                  </a:extLst>
                </a:gridCol>
              </a:tblGrid>
              <a:tr h="4537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42178"/>
                  </a:ext>
                </a:extLst>
              </a:tr>
              <a:tr h="429337">
                <a:tc>
                  <a:txBody>
                    <a:bodyPr/>
                    <a:lstStyle/>
                    <a:p>
                      <a:r>
                        <a:rPr lang="en-US" dirty="0"/>
                        <a:t>BERT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00338"/>
                  </a:ext>
                </a:extLst>
              </a:tr>
              <a:tr h="434109">
                <a:tc>
                  <a:txBody>
                    <a:bodyPr/>
                    <a:lstStyle/>
                    <a:p>
                      <a:r>
                        <a:rPr lang="en-US" dirty="0" err="1"/>
                        <a:t>RoBERTa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847"/>
                  </a:ext>
                </a:extLst>
              </a:tr>
              <a:tr h="416921">
                <a:tc>
                  <a:txBody>
                    <a:bodyPr/>
                    <a:lstStyle/>
                    <a:p>
                      <a:r>
                        <a:rPr lang="en-US" dirty="0"/>
                        <a:t>GPT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6569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CFA2A6B-F346-0C1A-FF16-58E18A19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8255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832F292-2509-E64C-D426-029912F9D72C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SELECTION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A1650-CFFF-62F0-4C97-FBED47CACFE9}"/>
              </a:ext>
            </a:extLst>
          </p:cNvPr>
          <p:cNvSpPr txBox="1"/>
          <p:nvPr/>
        </p:nvSpPr>
        <p:spPr>
          <a:xfrm>
            <a:off x="1155548" y="2761856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Verdana" panose="020B0604030504040204" pitchFamily="34" charset="0"/>
              </a:rPr>
              <a:t>RoBERTa</a:t>
            </a:r>
            <a:r>
              <a:rPr lang="en-US" sz="2400" dirty="0">
                <a:ea typeface="Verdana" panose="020B0604030504040204" pitchFamily="34" charset="0"/>
              </a:rPr>
              <a:t> exceled in overall sentiment analysis, though less effective in Aspect-Based Sentiment Analysis.</a:t>
            </a:r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Verdana" panose="020B0604030504040204" pitchFamily="34" charset="0"/>
              </a:rPr>
              <a:t>BERT performed well in Aspect Term Extraction, in Aspect Based Sentiment Analysis.</a:t>
            </a:r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Verdana" panose="020B0604030504040204" pitchFamily="34" charset="0"/>
              </a:rPr>
              <a:t>GPT-2, Captures long-range context effectively, making it ideal for detecting </a:t>
            </a:r>
            <a:r>
              <a:rPr lang="en-US" sz="2400" dirty="0"/>
              <a:t>understanding complex or nuanced sentiments in Aspect Based Sentiment Analysis.</a:t>
            </a:r>
            <a:endParaRPr lang="en-US" sz="2400" dirty="0">
              <a:ea typeface="Verdan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768C7-351F-4981-B119-0600B34246D2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2D39C134-BB23-D6C1-AF6A-8CC06E061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1369F-77E7-F7B2-0083-A7D95E02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706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832F292-2509-E64C-D426-029912F9D72C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FINE-TUNING ASPECT BASED SENTIMENT ANALYSIS USING BERT AND GPT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A1650-CFFF-62F0-4C97-FBED47CACFE9}"/>
              </a:ext>
            </a:extLst>
          </p:cNvPr>
          <p:cNvSpPr txBox="1"/>
          <p:nvPr/>
        </p:nvSpPr>
        <p:spPr>
          <a:xfrm>
            <a:off x="1137186" y="2378594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768C7-351F-4981-B119-0600B34246D2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2D39C134-BB23-D6C1-AF6A-8CC06E061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9C4B2C-588E-B644-55B6-E30E8E4C93CF}"/>
              </a:ext>
            </a:extLst>
          </p:cNvPr>
          <p:cNvSpPr/>
          <p:nvPr/>
        </p:nvSpPr>
        <p:spPr>
          <a:xfrm>
            <a:off x="1337657" y="2765235"/>
            <a:ext cx="1662545" cy="628073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Input : Reviews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8FB1A-5324-8CB4-018F-88FDCE32B6CE}"/>
              </a:ext>
            </a:extLst>
          </p:cNvPr>
          <p:cNvSpPr/>
          <p:nvPr/>
        </p:nvSpPr>
        <p:spPr>
          <a:xfrm>
            <a:off x="3746441" y="2825271"/>
            <a:ext cx="1704109" cy="508000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Tokenization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E036F5-CF09-6E6C-6F18-A24F23F61DE6}"/>
              </a:ext>
            </a:extLst>
          </p:cNvPr>
          <p:cNvSpPr/>
          <p:nvPr/>
        </p:nvSpPr>
        <p:spPr>
          <a:xfrm>
            <a:off x="6196789" y="2614287"/>
            <a:ext cx="2225964" cy="948444"/>
          </a:xfrm>
          <a:prstGeom prst="roundRect">
            <a:avLst/>
          </a:prstGeom>
          <a:solidFill>
            <a:srgbClr val="CC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GPT – Handling long sequences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173DC3-CBE3-ADE2-7639-C48C638FCDD1}"/>
              </a:ext>
            </a:extLst>
          </p:cNvPr>
          <p:cNvSpPr/>
          <p:nvPr/>
        </p:nvSpPr>
        <p:spPr>
          <a:xfrm>
            <a:off x="9347195" y="2614287"/>
            <a:ext cx="1754910" cy="948444"/>
          </a:xfrm>
          <a:prstGeom prst="roundRect">
            <a:avLst/>
          </a:prstGeom>
          <a:solidFill>
            <a:srgbClr val="CC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BERT – Aspect Term Extraction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8B187-8090-7895-419F-3899ABC5F7D9}"/>
              </a:ext>
            </a:extLst>
          </p:cNvPr>
          <p:cNvSpPr/>
          <p:nvPr/>
        </p:nvSpPr>
        <p:spPr>
          <a:xfrm>
            <a:off x="9476504" y="4630984"/>
            <a:ext cx="1496291" cy="882074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Output : Aspect Terms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9F1E3-7DE0-DC07-B485-DE5FF8C4B45B}"/>
              </a:ext>
            </a:extLst>
          </p:cNvPr>
          <p:cNvSpPr/>
          <p:nvPr/>
        </p:nvSpPr>
        <p:spPr>
          <a:xfrm>
            <a:off x="6482312" y="4654691"/>
            <a:ext cx="1736436" cy="882074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Contextual Input construction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BBED1E-D7FD-E753-DD2A-F3D668608023}"/>
              </a:ext>
            </a:extLst>
          </p:cNvPr>
          <p:cNvSpPr/>
          <p:nvPr/>
        </p:nvSpPr>
        <p:spPr>
          <a:xfrm>
            <a:off x="3746441" y="4621507"/>
            <a:ext cx="1879600" cy="948443"/>
          </a:xfrm>
          <a:prstGeom prst="roundRect">
            <a:avLst/>
          </a:prstGeom>
          <a:solidFill>
            <a:srgbClr val="CC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GPT – Aspect Sentiment Classification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BF189D-70E6-8AE1-5488-C064B0839CA3}"/>
              </a:ext>
            </a:extLst>
          </p:cNvPr>
          <p:cNvSpPr/>
          <p:nvPr/>
        </p:nvSpPr>
        <p:spPr>
          <a:xfrm>
            <a:off x="1337656" y="4497675"/>
            <a:ext cx="1662546" cy="1196108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Output : Aspect-Term and Sentiment </a:t>
            </a:r>
            <a:endParaRPr lang="en-IE" dirty="0">
              <a:ea typeface="Verdana" panose="020B060403050404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0F7BCE-5B92-6356-3CE0-774C40F55B6B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000202" y="3079271"/>
            <a:ext cx="746239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60407C-D2D0-735D-ABC6-235320172E8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450550" y="3079271"/>
            <a:ext cx="746239" cy="92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CF3427-5E6A-4B29-FC07-9EB2AABABF8B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422753" y="3088509"/>
            <a:ext cx="92444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222841-5802-FD86-C257-8DC7BFAFE16B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0224650" y="3562731"/>
            <a:ext cx="0" cy="106825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D6FBA6-1B4F-6E53-4702-0713BEEDAFEB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8218748" y="5072021"/>
            <a:ext cx="1257756" cy="2370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C3161B-2BC4-82F2-C1F7-8E1C92ADBE20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5626041" y="5095728"/>
            <a:ext cx="856271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17EEAA-EAB9-AB26-7340-E258EEC2B87F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flipH="1">
            <a:off x="3000202" y="5095729"/>
            <a:ext cx="74623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311052D-2CFB-BF43-049F-2F594359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979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1CF6926-FBF5-FE1C-651C-42687E0B280E}"/>
              </a:ext>
            </a:extLst>
          </p:cNvPr>
          <p:cNvSpPr txBox="1">
            <a:spLocks/>
          </p:cNvSpPr>
          <p:nvPr/>
        </p:nvSpPr>
        <p:spPr>
          <a:xfrm>
            <a:off x="1155548" y="499503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FINE-TUNING ASPECT BASED SENTIMENT ANALYSIS USING BERT AND GPT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0F382-B86C-CA99-4829-BF781FAB34C9}"/>
              </a:ext>
            </a:extLst>
          </p:cNvPr>
          <p:cNvSpPr txBox="1"/>
          <p:nvPr/>
        </p:nvSpPr>
        <p:spPr>
          <a:xfrm>
            <a:off x="1155548" y="2217343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Challenges: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BERT Model: </a:t>
            </a:r>
            <a:r>
              <a:rPr lang="en-US" sz="2000" dirty="0"/>
              <a:t>Struggles to process long user reviews due to its 512-token limit, limiting its effectiveness on real-world data.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GPT Model: </a:t>
            </a:r>
            <a:r>
              <a:rPr lang="en-US" sz="2000" dirty="0"/>
              <a:t>Requires significant memory and computational resources, leading to longer training times.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Approach: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b="1" dirty="0"/>
              <a:t>Sliding Window Approach: </a:t>
            </a:r>
            <a:r>
              <a:rPr lang="en-US" sz="2000" dirty="0"/>
              <a:t>Applied to manage BERT’s 512-token limit, ensuring efficient data handling.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b="1" dirty="0"/>
              <a:t>Batch Processing and GPU: </a:t>
            </a:r>
            <a:r>
              <a:rPr lang="en-US" sz="2000" dirty="0"/>
              <a:t>Leveraged to reduce memory issues during model training, enhancing computational efficiency.</a:t>
            </a:r>
          </a:p>
          <a:p>
            <a:pPr marL="13716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270C3-CECE-652A-A0D4-8FB256F10301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A57B68A6-E9E1-07AB-D9CE-C6EA03A01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08B8-B073-412C-30C1-3591FA6A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3310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78486D-3A41-EA52-7D16-C0439407ECA4}"/>
              </a:ext>
            </a:extLst>
          </p:cNvPr>
          <p:cNvSpPr txBox="1">
            <a:spLocks/>
          </p:cNvSpPr>
          <p:nvPr/>
        </p:nvSpPr>
        <p:spPr>
          <a:xfrm>
            <a:off x="1155548" y="509605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FINE-TUNING ASPECT BASED SENTIMENT ANALYSIS USING BERT AND GPT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7009F-9F55-D2A0-C50A-C4BA3C591973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AEF21405-6E66-1610-4506-1E5380C9B6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61665B02-D51D-18DA-A48D-C4751D242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815715"/>
              </p:ext>
            </p:extLst>
          </p:nvPr>
        </p:nvGraphicFramePr>
        <p:xfrm>
          <a:off x="1155548" y="2217343"/>
          <a:ext cx="10220375" cy="4236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AC98-6287-C694-5469-C1A23D94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0491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1CF6926-FBF5-FE1C-651C-42687E0B280E}"/>
              </a:ext>
            </a:extLst>
          </p:cNvPr>
          <p:cNvSpPr txBox="1">
            <a:spLocks/>
          </p:cNvSpPr>
          <p:nvPr/>
        </p:nvSpPr>
        <p:spPr>
          <a:xfrm>
            <a:off x="772285" y="-512139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5CD9E5-9280-9B7B-044B-9B8D29FA45EB}"/>
              </a:ext>
            </a:extLst>
          </p:cNvPr>
          <p:cNvSpPr txBox="1"/>
          <p:nvPr/>
        </p:nvSpPr>
        <p:spPr>
          <a:xfrm>
            <a:off x="772285" y="1330036"/>
            <a:ext cx="6303682" cy="5070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Traditional Models vs Transformer Models: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Traditional methods (SVM, Lexicon-based) showed limited accuracy in ABSA.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Transformer models results showed better performance than traditional methods.</a:t>
            </a:r>
          </a:p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Model Performance: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BERT: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Superior in Aspect Term Extraction (Accuracy: 90.23%).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RoBERTa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Best for overall sentiment analysis but less effective for ABSA.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Effective for sentiment classification, especially with long sequences.</a:t>
            </a:r>
          </a:p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Combined Approach: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BERT + GPT Model: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Achieved 93.5% accuracy, with balanced precision, recall, and F1 scores.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integrated model of BERT and GPT provides a better solution for ABSA, outperforming individual models and traditional methods for our specific dataset.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08C79-01F5-A677-9F90-D4AE7F3A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9378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270C3-CECE-652A-A0D4-8FB256F10301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A57B68A6-E9E1-07AB-D9CE-C6EA03A01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7A43CD-7A3C-BA02-CC8F-D48826BAA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07110"/>
              </p:ext>
            </p:extLst>
          </p:nvPr>
        </p:nvGraphicFramePr>
        <p:xfrm>
          <a:off x="7370935" y="2829141"/>
          <a:ext cx="4170532" cy="10360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0328">
                  <a:extLst>
                    <a:ext uri="{9D8B030D-6E8A-4147-A177-3AD203B41FA5}">
                      <a16:colId xmlns:a16="http://schemas.microsoft.com/office/drawing/2014/main" val="1519638403"/>
                    </a:ext>
                  </a:extLst>
                </a:gridCol>
                <a:gridCol w="984584">
                  <a:extLst>
                    <a:ext uri="{9D8B030D-6E8A-4147-A177-3AD203B41FA5}">
                      <a16:colId xmlns:a16="http://schemas.microsoft.com/office/drawing/2014/main" val="284422360"/>
                    </a:ext>
                  </a:extLst>
                </a:gridCol>
                <a:gridCol w="984584">
                  <a:extLst>
                    <a:ext uri="{9D8B030D-6E8A-4147-A177-3AD203B41FA5}">
                      <a16:colId xmlns:a16="http://schemas.microsoft.com/office/drawing/2014/main" val="1354568726"/>
                    </a:ext>
                  </a:extLst>
                </a:gridCol>
                <a:gridCol w="685622">
                  <a:extLst>
                    <a:ext uri="{9D8B030D-6E8A-4147-A177-3AD203B41FA5}">
                      <a16:colId xmlns:a16="http://schemas.microsoft.com/office/drawing/2014/main" val="1060565191"/>
                    </a:ext>
                  </a:extLst>
                </a:gridCol>
                <a:gridCol w="745414">
                  <a:extLst>
                    <a:ext uri="{9D8B030D-6E8A-4147-A177-3AD203B41FA5}">
                      <a16:colId xmlns:a16="http://schemas.microsoft.com/office/drawing/2014/main" val="2376745771"/>
                    </a:ext>
                  </a:extLst>
                </a:gridCol>
              </a:tblGrid>
              <a:tr h="50510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extLst>
                  <a:ext uri="{0D108BD9-81ED-4DB2-BD59-A6C34878D82A}">
                    <a16:rowId xmlns:a16="http://schemas.microsoft.com/office/drawing/2014/main" val="3476352867"/>
                  </a:ext>
                </a:extLst>
              </a:tr>
              <a:tr h="53095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BERT + GPT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93.5%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0.91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0.91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0.92</a:t>
                      </a:r>
                      <a:endParaRPr lang="en-IE" sz="1400" dirty="0"/>
                    </a:p>
                  </a:txBody>
                  <a:tcPr marL="71751" marR="71751" marT="35876" marB="35876"/>
                </a:tc>
                <a:extLst>
                  <a:ext uri="{0D108BD9-81ED-4DB2-BD59-A6C34878D82A}">
                    <a16:rowId xmlns:a16="http://schemas.microsoft.com/office/drawing/2014/main" val="109373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66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C942946-5870-9DD7-ADA4-1602FAD4E1B8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4DCF-375A-1EC6-7DAE-E1A37EAE0EB2}"/>
              </a:ext>
            </a:extLst>
          </p:cNvPr>
          <p:cNvSpPr txBox="1"/>
          <p:nvPr/>
        </p:nvSpPr>
        <p:spPr>
          <a:xfrm>
            <a:off x="6198771" y="1130831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Consider exploring other Transformer models like T5 and </a:t>
            </a:r>
            <a:r>
              <a:rPr lang="en-US" sz="2200" dirty="0" err="1"/>
              <a:t>XLNet</a:t>
            </a:r>
            <a:r>
              <a:rPr lang="en-US" sz="2200" dirty="0"/>
              <a:t>, known for advanced language understanding and translation capabilities.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Combine Transformer models (BERT, </a:t>
            </a:r>
            <a:r>
              <a:rPr lang="en-US" sz="2200" dirty="0" err="1"/>
              <a:t>RoBERTa</a:t>
            </a:r>
            <a:r>
              <a:rPr lang="en-US" sz="2200" dirty="0"/>
              <a:t>, GPT, T5, </a:t>
            </a:r>
            <a:r>
              <a:rPr lang="en-US" sz="2200" dirty="0" err="1"/>
              <a:t>XLNet</a:t>
            </a:r>
            <a:r>
              <a:rPr lang="en-US" sz="2200" dirty="0"/>
              <a:t>) using techniques like voting, averaging, or stacking to enhance overall performance.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Develop user-friendly interfaces and dashboards for small business owners.</a:t>
            </a:r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00D6-E8D8-DD4F-40CE-5BB32448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B4C95-7F36-9CAC-6689-7532453832CA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77078518-6896-1497-52FA-EC25DD467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42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05034E7-5E8B-F6E3-FFB6-1CA7A6620404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FAB78-2F93-1BD3-0BBD-507CFE2350A2}"/>
              </a:ext>
            </a:extLst>
          </p:cNvPr>
          <p:cNvSpPr txBox="1"/>
          <p:nvPr/>
        </p:nvSpPr>
        <p:spPr>
          <a:xfrm>
            <a:off x="5824355" y="909617"/>
            <a:ext cx="524913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Utilized BERT, GPT, and </a:t>
            </a:r>
            <a:r>
              <a:rPr lang="en-US" sz="2000" dirty="0" err="1"/>
              <a:t>RoBERTa</a:t>
            </a:r>
            <a:r>
              <a:rPr lang="en-US" sz="2000" dirty="0"/>
              <a:t> for Aspect-Based Sentiment Analysis due to their strong NLP capabilities which outperformed Traditional methods that were considered.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Trained these models for Aspect Term Extraction and Aspect Sentiment Classification on labeled restaurant reviews (</a:t>
            </a:r>
            <a:r>
              <a:rPr lang="en-US" sz="2000" dirty="0" err="1"/>
              <a:t>SemEval</a:t>
            </a:r>
            <a:r>
              <a:rPr lang="en-US" sz="2000" dirty="0"/>
              <a:t> 2014).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Integrating and fine-tuning BERT and GPT, yields a good result compared to using them alone.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Highlighted potential for further improvements with more advanced methods in Future works.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0FB14-B245-34FE-E3AC-BB5005EC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E4C8B-96F7-10C0-6B00-18037A1F3AFC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5DC3828F-134D-A89A-3D3E-D13FA9073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67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E7691-00B8-CCE0-5D77-7DC3E8375558}"/>
              </a:ext>
            </a:extLst>
          </p:cNvPr>
          <p:cNvSpPr txBox="1"/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905FA-4B6D-CC82-A084-8AEE4427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E4C8B-96F7-10C0-6B00-18037A1F3AFC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05034E7-5E8B-F6E3-FFB6-1CA7A6620404}"/>
              </a:ext>
            </a:extLst>
          </p:cNvPr>
          <p:cNvSpPr txBox="1">
            <a:spLocks/>
          </p:cNvSpPr>
          <p:nvPr/>
        </p:nvSpPr>
        <p:spPr>
          <a:xfrm>
            <a:off x="524163" y="475954"/>
            <a:ext cx="10515600" cy="948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3C85D-ACF5-CDDE-9681-CE09BBCBBE5F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85147B59-3F53-DEBA-E304-69C8C7D1B5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1383</Words>
  <Application>Microsoft Office PowerPoint</Application>
  <PresentationFormat>Widescreen</PresentationFormat>
  <Paragraphs>259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Anand</dc:creator>
  <cp:lastModifiedBy>Dev Anand  Jayakumar</cp:lastModifiedBy>
  <cp:revision>20</cp:revision>
  <dcterms:created xsi:type="dcterms:W3CDTF">2024-08-12T22:02:23Z</dcterms:created>
  <dcterms:modified xsi:type="dcterms:W3CDTF">2024-08-13T19:56:44Z</dcterms:modified>
</cp:coreProperties>
</file>